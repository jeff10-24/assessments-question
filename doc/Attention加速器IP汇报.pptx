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7" r:id="rId8"/>
    <p:sldId id="269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各位老师好，我汇报的是 A 题：Attention 加速器 IP 的设计与验证。</a:t>
            </a:r>
          </a:p>
          <a:p/>
          <a:p>
            <a:r>
              <a:t>我完成的是一个基础 Attention IP，S 等于 8、d 等于 4，输入输出都是 8 位有符号整数。最终 227 个用例乘以 3 种输入流全部通过，而且是逐位一致、容差 0；另外完成了 A、C、E 三个加分项。</a:t>
            </a:r>
          </a:p>
          <a:p/>
          <a:p>
            <a:r>
              <a:t>【约 25 秒。说完「三个加分项」停半秒。】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先说明一下我的设计报告结构。报告分五个部分：完成情况、公式理解及代码实现、各模块的设计、遇到的问题、优化方案。</a:t>
            </a:r>
          </a:p>
          <a:p/>
          <a:p>
            <a:r>
              <a:t>其中第二部分是把五个公式逐个解释并给出对应的 RTL 代码；第三部分讲架构、状态机和五个功能模块，加分项 A 和 C 也放在这里；第五部分是加分项 E，调研了指数函数的六种硬件实现方法。</a:t>
            </a:r>
          </a:p>
          <a:p/>
          <a:p>
            <a:r>
              <a:t>下面我先讲仿真验证，再讲我对各个模块的理解，然后是加分项，最后是我觉得还没做好的地方。</a:t>
            </a:r>
          </a:p>
          <a:p/>
          <a:p>
            <a:r>
              <a:t>【约 35 秒。这一页快速过，不要逐条念。】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验证做了三层。</a:t>
            </a:r>
          </a:p>
          <a:p/>
          <a:p>
            <a:r>
              <a:t>算法层：Python 参考模型先自检，并且复现了题目原文的手算示例。批量层：定向用例加随机用例，把 RTL 的输出和参考模型逐项比对。波形层：在 ModelSim 里人工核对每一级中间结果。</a:t>
            </a:r>
          </a:p>
          <a:p/>
          <a:p>
            <a:r>
              <a:t>工具上用了两个仿真器交叉验证：Icarus Verilog 跑批量回归，ModelSim 用来看波形。右边这条命令就是一键回归。</a:t>
            </a:r>
          </a:p>
          <a:p/>
          <a:p>
            <a:r>
              <a:t>有一点很重要：**期望值来自独立的 Python 参考模型**，不是拿 DUT 自己的行为当标准，否则永远会「通过」。</a:t>
            </a:r>
          </a:p>
          <a:p/>
          <a:p>
            <a:r>
              <a:t>【约 40 秒。重点强调最后那句。】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这两张是我实际跑出来的截图。</a:t>
            </a:r>
          </a:p>
          <a:p/>
          <a:p>
            <a:r>
              <a:t>左边是 ModelSim 的波形，右边是 VS Code 里跑 Python 参考模型。我的验证流程就是：**先在 VS Code 里用参考模型拿到标准答案，再去 ModelSim 的波形上把同样的数字找出来，两边一致才认为设计是对的。**</a:t>
            </a:r>
          </a:p>
          <a:p/>
          <a:p>
            <a:r>
              <a:t>如果老师现场换一组输入，我就重复这四步。</a:t>
            </a:r>
          </a:p>
          <a:p/>
          <a:p>
            <a:r>
              <a:t>【约 25 秒。指一下两张图，重点说「两边一致才算通过」。】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最后讲一下我觉得**还没做好的地方**，一共六条。</a:t>
            </a:r>
          </a:p>
          <a:p/>
          <a:p>
            <a:r>
              <a:t>**第一条也是最本质的**：weight 的动态范围太窄。题目规定小数固定 4 位，分辨率只有 1/16，所以 diff 小于等于 −4 的权重直接归零。实测满量程输入下大约 87% 的 Token 权重被量化为 0，**Softmax 实际退化成了 argmax**。这是题目定点格式的固有限制，不是我的实现错误，但确实是这个设计最大的短板。</a:t>
            </a:r>
          </a:p>
          <a:p/>
          <a:p>
            <a:r>
              <a:t>第二条，×16 定标带来了量化误差，diff 等于 −3 时相对误差已经到 25%。我当时也考虑过用 ×10000，但位宽和乘法器面积都要涨 2.5 倍，所以选了 ×16。</a:t>
            </a:r>
          </a:p>
          <a:p/>
          <a:p>
            <a:r>
              <a:t>第三、四条：没有做流水线，112 拍是串行的；点积和装载占了 58% 的时间。</a:t>
            </a:r>
          </a:p>
          <a:p>
            <a:r>
              <a:t>第五条：倒数表有资源浪费，8576 bit 只用到 113 个地址。</a:t>
            </a:r>
          </a:p>
          <a:p>
            <a:r>
              <a:t>第六条：**我只做了仿真，没有跑综合**，所以没有实际的频率和面积数据，只有结构上的估算。</a:t>
            </a:r>
          </a:p>
          <a:p/>
          <a:p>
            <a:r>
              <a:t>【约 60 秒。这一页是加分项——主动说不足比被问出来好。】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48840"/>
            <a:ext cx="12191695" cy="109728"/>
          </a:xfrm>
          <a:prstGeom prst="rect">
            <a:avLst/>
          </a:prstGeom>
          <a:solidFill>
            <a:srgbClr val="1A4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8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Attention 加速器 IP 设计与验证</a:t>
            </a:r>
            <a:endParaRPr sz="38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758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数字组招生实践项目（大二）·  A 题</a:t>
            </a:r>
            <a:endParaRPr sz="17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Aft>
                <a:spcPts val="700"/>
              </a:spcAft>
            </a:pPr>
            <a:r>
              <a:rPr sz="17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25集成1郑建枫</a:t>
            </a:r>
            <a:endParaRPr sz="17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Aft>
                <a:spcPts val="700"/>
              </a:spcAft>
            </a:pPr>
            <a:r>
              <a:rPr sz="17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= 8，d = 4；输入 Q/K/V 与输出 O 均为 8-bit 有符号整数</a:t>
            </a:r>
            <a:endParaRPr sz="17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Aft>
                <a:spcPts val="700"/>
              </a:spcAft>
            </a:pPr>
            <a:r>
              <a:rPr sz="17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227 个用例 × 3 种输入流全部通过，输出与参考模型逐位一致</a:t>
            </a:r>
            <a:endParaRPr sz="17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Aft>
                <a:spcPts val="700"/>
              </a:spcAft>
            </a:pPr>
            <a:r>
              <a:rPr sz="17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完成加分项：A 因果 Mask ｜ C 参数化 ｜ E 指数函数实现方法调研</a:t>
            </a:r>
            <a:endParaRPr sz="17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1A4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0">
                <a:solidFill>
                  <a:srgbClr val="1A4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一、设计文档说明</a:t>
            </a:r>
            <a:endParaRPr sz="2500" b="0">
              <a:solidFill>
                <a:srgbClr val="1A4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1247120" cy="2353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A4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设计报告分五个部分</a:t>
            </a:r>
            <a:endParaRPr sz="1700" b="1">
              <a:solidFill>
                <a:srgbClr val="1A4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**一、完成情况**：完成了什么、交付了什么、用什么工具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**二、公式理解及代码实现**：五个公式逐个解释，每个都给出对应 RTL 代码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**三、各模块的设计**：整体架构、状态机、五个功能模块、加分项 A / C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**四、遇到的问题**：指数 LUT 的问题、×16 定标与 ×10000 的取舍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**五、优化方案**：加分项 E —— 指数函数六种实现方法的调研与对比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1A4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0">
                <a:solidFill>
                  <a:srgbClr val="1A4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二、仿真验证是怎么做的</a:t>
            </a:r>
            <a:endParaRPr sz="2500" b="0">
              <a:solidFill>
                <a:srgbClr val="1A4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1247120" cy="4779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A4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三层验证，从算法到波形</a:t>
            </a:r>
            <a:endParaRPr sz="1700" b="1">
              <a:solidFill>
                <a:srgbClr val="1A4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**算法层**：Python Golden Model 先自检，并复现题目原文的手算示例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**批量层**：定向用例 + 随机用例，RTL 与 Golden Model 逐项比对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**波形层**：ModelSim 里人工核对每一级中间结果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A4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工具链：两个仿真器交叉验证</a:t>
            </a:r>
            <a:endParaRPr sz="1700" b="1">
              <a:solidFill>
                <a:srgbClr val="1A4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Icarus Verilog 12.0  —— 跑批量回归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ModelSim 10.4       —— 看波形、人工核对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 Code             —— 跑 Python 参考模型，拿标准答案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A4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批量回归怎么跑</a:t>
            </a:r>
            <a:endParaRPr sz="1700" b="1">
              <a:solidFill>
                <a:srgbClr val="1A4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scripts\run_sim.bat all       生成向量 + 自检 + 审计 + 编译 + 三种 KV 流回归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scripts\run_sim.bat directed  只跑 14 个定向用例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scripts\run_sim.bat random    只跑 200 个随机用例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scripts\run_sim.bat bonus     跑加分项 A / C 的独立测试</a:t>
            </a:r>
            <a:endParaRPr sz="15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A4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关键：期望值来自独立的 Python 参考模型，不是 DUT 自己的行为</a:t>
            </a:r>
            <a:endParaRPr sz="1700" b="1">
              <a:solidFill>
                <a:srgbClr val="1A4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1A4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0">
                <a:solidFill>
                  <a:srgbClr val="1A4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四、仿真截图</a:t>
            </a:r>
            <a:endParaRPr sz="2500" b="0">
              <a:solidFill>
                <a:srgbClr val="1A4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5039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左：ModelSim 波形　|　右：VS Code 跑参考模型拿标准答案</a:t>
            </a:r>
            <a:endParaRPr sz="1300" b="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5110" y="2844800"/>
            <a:ext cx="5361940" cy="21355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" y="2651125"/>
            <a:ext cx="6047740" cy="2746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457200"/>
          </a:xfrm>
          <a:prstGeom prst="rect">
            <a:avLst/>
          </a:prstGeom>
          <a:solidFill>
            <a:srgbClr val="1A4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97280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lang="zh-CN" sz="2500" b="0">
                <a:solidFill>
                  <a:srgbClr val="1A4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</a:t>
            </a:r>
            <a:r>
              <a:rPr sz="2500" b="0">
                <a:solidFill>
                  <a:srgbClr val="1A4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、我存在的问题、没做好的地方</a:t>
            </a:r>
            <a:endParaRPr sz="2500" b="0">
              <a:solidFill>
                <a:srgbClr val="1A4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11247120" cy="3892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A4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weight 的动态范围太窄（最本质的缺陷）</a:t>
            </a:r>
            <a:endParaRPr sz="1500" b="1">
              <a:solidFill>
                <a:srgbClr val="1A4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题目规定小数固定 4 位，分辨率只有 1/16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diff ≤ −4 的权重直接归零；实测满量程输入下有约 87% 的 Token 权重被量化为 0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**Softmax 实际退化成了 argmax**（只保留最大那一路）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这是题目定点格式的固有限制，不是实现错误，但确实是这个设计最大的短板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A4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×16 定标带来了量化误差</a:t>
            </a:r>
            <a:endParaRPr sz="1500" b="1">
              <a:solidFill>
                <a:srgbClr val="1A4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diff = −3 时相对误差已达 25%，−4 以下 100%；小量程输入下输出最大偏差 12 LSB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当时也考虑过 ×10000（十进制 4 位小数），但 weight 位宽要从 5 位涨到 14 位、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加权乘法器从 6×8 涨到 15×8（约 2.5 倍面积），所以最终选了 ×16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A4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没有做流水线</a:t>
            </a:r>
            <a:endParaRPr sz="1500" b="1">
              <a:solidFill>
                <a:srgbClr val="1A4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112 拍是串行的，任务与任务之间不能重叠，吞吐率上不去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A4A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周期数偏长，点积是瓶颈</a:t>
            </a:r>
            <a:endParaRPr sz="1500" b="1">
              <a:solidFill>
                <a:srgbClr val="1A4A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algn="l">
              <a:spcAft>
                <a:spcPts val="700"/>
              </a:spcAft>
            </a:pPr>
            <a:r>
              <a:rPr sz="1300" b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DOT 32 拍 + LOAD_KV 33 拍占了 58%；点积用单乘法器串行，改成 4 路并行可压到约 88 拍</a:t>
            </a:r>
            <a:endParaRPr sz="1300" b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e817f7a9b09236bfebb58769a5e467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" y="1053465"/>
            <a:ext cx="12191365" cy="57442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20420" y="531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优化</a:t>
            </a:r>
            <a:r>
              <a:rPr lang="zh-CN" altLang="en-US"/>
              <a:t>流水线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1345</Words>
  <Application>WPS 演示</Application>
  <PresentationFormat>On-screen Show (4:3)</PresentationFormat>
  <Paragraphs>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郑建枫</cp:lastModifiedBy>
  <cp:revision>3</cp:revision>
  <dcterms:created xsi:type="dcterms:W3CDTF">2013-01-27T09:14:00Z</dcterms:created>
  <dcterms:modified xsi:type="dcterms:W3CDTF">2026-10-12T14:36:43Z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2052-12.1.0.24031</vt:lpwstr>
  </property>
  <property fmtid="{D5CDD505-2E9C-101B-9397-08002B2CF9AE}" pid="3" name="ICV">
    <vt:lpwstr>40556EEA79464E7BB096CF674BEDE147_12</vt:lpwstr>
  </property>
</Properties>
</file>